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erriweather Sans" charset="1" panose="00000500000000000000"/>
      <p:regular r:id="rId16"/>
    </p:embeddedFont>
    <p:embeddedFont>
      <p:font typeface="Monda" charset="1" panose="02000503000000000000"/>
      <p:regular r:id="rId17"/>
    </p:embeddedFont>
    <p:embeddedFont>
      <p:font typeface="Canva Sans Bold" charset="1" panose="020B0803030501040103"/>
      <p:regular r:id="rId18"/>
    </p:embeddedFont>
    <p:embeddedFont>
      <p:font typeface="Canva Sans" charset="1" panose="020B0503030501040103"/>
      <p:regular r:id="rId19"/>
    </p:embeddedFont>
    <p:embeddedFont>
      <p:font typeface="Montserrat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https://www.onlinegdb.com/zzP9myr-r"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101444" y="1514861"/>
            <a:ext cx="14085112" cy="3528165"/>
          </a:xfrm>
          <a:prstGeom prst="rect">
            <a:avLst/>
          </a:prstGeom>
        </p:spPr>
        <p:txBody>
          <a:bodyPr anchor="t" rtlCol="false" tIns="0" lIns="0" bIns="0" rIns="0">
            <a:spAutoFit/>
          </a:bodyPr>
          <a:lstStyle/>
          <a:p>
            <a:pPr algn="ctr">
              <a:lnSpc>
                <a:spcPts val="14197"/>
              </a:lnSpc>
            </a:pPr>
            <a:r>
              <a:rPr lang="en-US" sz="10141">
                <a:solidFill>
                  <a:srgbClr val="000000"/>
                </a:solidFill>
                <a:latin typeface="Merriweather Sans"/>
                <a:ea typeface="Merriweather Sans"/>
                <a:cs typeface="Merriweather Sans"/>
                <a:sym typeface="Merriweather Sans"/>
              </a:rPr>
              <a:t>DSC++ MICRO PROJECT</a:t>
            </a:r>
          </a:p>
        </p:txBody>
      </p:sp>
      <p:sp>
        <p:nvSpPr>
          <p:cNvPr name="TextBox 8" id="8"/>
          <p:cNvSpPr txBox="true"/>
          <p:nvPr/>
        </p:nvSpPr>
        <p:spPr>
          <a:xfrm rot="0">
            <a:off x="4062982" y="5699539"/>
            <a:ext cx="10162036" cy="762792"/>
          </a:xfrm>
          <a:prstGeom prst="rect">
            <a:avLst/>
          </a:prstGeom>
        </p:spPr>
        <p:txBody>
          <a:bodyPr anchor="t" rtlCol="false" tIns="0" lIns="0" bIns="0" rIns="0">
            <a:spAutoFit/>
          </a:bodyPr>
          <a:lstStyle/>
          <a:p>
            <a:pPr algn="ctr">
              <a:lnSpc>
                <a:spcPts val="6256"/>
              </a:lnSpc>
              <a:spcBef>
                <a:spcPct val="0"/>
              </a:spcBef>
            </a:pPr>
            <a:r>
              <a:rPr lang="en-US" sz="4468">
                <a:solidFill>
                  <a:srgbClr val="000000"/>
                </a:solidFill>
                <a:latin typeface="Monda"/>
                <a:ea typeface="Monda"/>
                <a:cs typeface="Monda"/>
                <a:sym typeface="Monda"/>
              </a:rPr>
              <a:t>By MATHAVAN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0420175" y="3867527"/>
            <a:ext cx="4415390" cy="441539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7"/>
              <a:stretch>
                <a:fillRect l="0" t="-2691" r="0" b="-2691"/>
              </a:stretch>
            </a:blipFill>
          </p:spPr>
        </p:sp>
      </p:grpSp>
      <p:sp>
        <p:nvSpPr>
          <p:cNvPr name="Freeform 9" id="9"/>
          <p:cNvSpPr/>
          <p:nvPr/>
        </p:nvSpPr>
        <p:spPr>
          <a:xfrm flipH="false" flipV="false" rot="0">
            <a:off x="13303024" y="6928397"/>
            <a:ext cx="2282069" cy="1688731"/>
          </a:xfrm>
          <a:custGeom>
            <a:avLst/>
            <a:gdLst/>
            <a:ahLst/>
            <a:cxnLst/>
            <a:rect r="r" b="b" t="t" l="l"/>
            <a:pathLst>
              <a:path h="1688731" w="2282069">
                <a:moveTo>
                  <a:pt x="0" y="0"/>
                </a:moveTo>
                <a:lnTo>
                  <a:pt x="2282069" y="0"/>
                </a:lnTo>
                <a:lnTo>
                  <a:pt x="2282069" y="1688731"/>
                </a:lnTo>
                <a:lnTo>
                  <a:pt x="0" y="16887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107415" y="1145343"/>
            <a:ext cx="606340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Definition:</a:t>
            </a:r>
          </a:p>
        </p:txBody>
      </p:sp>
      <p:sp>
        <p:nvSpPr>
          <p:cNvPr name="TextBox 11" id="11"/>
          <p:cNvSpPr txBox="true"/>
          <p:nvPr/>
        </p:nvSpPr>
        <p:spPr>
          <a:xfrm rot="0">
            <a:off x="2107415" y="3236137"/>
            <a:ext cx="7970254" cy="53809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In C++, the term define is generally associated with the preprocessor directive #define. It is used to define macros or symbolic constants before the actual compilation of the program. This means the replacement happens before compilation, during the preprocessing stage.</a:t>
            </a:r>
          </a:p>
          <a:p>
            <a:pPr algn="ctr">
              <a:lnSpc>
                <a:spcPts val="4759"/>
              </a:lnSpc>
            </a:pPr>
          </a:p>
        </p:txBody>
      </p:sp>
    </p:spTree>
  </p:cSld>
  <p:clrMapOvr>
    <a:masterClrMapping/>
  </p:clrMapOvr>
  <p:transition spd="fast">
    <p:cover dir="rd"/>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382948" y="1818338"/>
            <a:ext cx="12738720" cy="771553"/>
          </a:xfrm>
          <a:prstGeom prst="rect">
            <a:avLst/>
          </a:prstGeom>
        </p:spPr>
        <p:txBody>
          <a:bodyPr anchor="t" rtlCol="false" tIns="0" lIns="0" bIns="0" rIns="0">
            <a:spAutoFit/>
          </a:bodyPr>
          <a:lstStyle/>
          <a:p>
            <a:pPr algn="ctr">
              <a:lnSpc>
                <a:spcPts val="6331"/>
              </a:lnSpc>
            </a:pPr>
            <a:r>
              <a:rPr lang="en-US" b="true" sz="4522">
                <a:solidFill>
                  <a:srgbClr val="000000"/>
                </a:solidFill>
                <a:latin typeface="Canva Sans Bold"/>
                <a:ea typeface="Canva Sans Bold"/>
                <a:cs typeface="Canva Sans Bold"/>
                <a:sym typeface="Canva Sans Bold"/>
              </a:rPr>
              <a:t>Title: Student Management System using C++</a:t>
            </a:r>
          </a:p>
        </p:txBody>
      </p:sp>
      <p:sp>
        <p:nvSpPr>
          <p:cNvPr name="TextBox 8" id="8"/>
          <p:cNvSpPr txBox="true"/>
          <p:nvPr/>
        </p:nvSpPr>
        <p:spPr>
          <a:xfrm rot="0">
            <a:off x="706332" y="3202743"/>
            <a:ext cx="322368"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a:t>
            </a:r>
          </a:p>
        </p:txBody>
      </p:sp>
      <p:sp>
        <p:nvSpPr>
          <p:cNvPr name="TextBox 9" id="9"/>
          <p:cNvSpPr txBox="true"/>
          <p:nvPr/>
        </p:nvSpPr>
        <p:spPr>
          <a:xfrm rot="0">
            <a:off x="867516" y="4037585"/>
            <a:ext cx="17075521" cy="2284570"/>
          </a:xfrm>
          <a:prstGeom prst="rect">
            <a:avLst/>
          </a:prstGeom>
        </p:spPr>
        <p:txBody>
          <a:bodyPr anchor="t" rtlCol="false" tIns="0" lIns="0" bIns="0" rIns="0">
            <a:spAutoFit/>
          </a:bodyPr>
          <a:lstStyle/>
          <a:p>
            <a:pPr algn="ctr">
              <a:lnSpc>
                <a:spcPts val="3613"/>
              </a:lnSpc>
            </a:pPr>
            <a:r>
              <a:rPr lang="en-US" sz="2581" b="true">
                <a:solidFill>
                  <a:srgbClr val="000000"/>
                </a:solidFill>
                <a:latin typeface="Canva Sans Bold"/>
                <a:ea typeface="Canva Sans Bold"/>
                <a:cs typeface="Canva Sans Bold"/>
                <a:sym typeface="Canva Sans Bold"/>
              </a:rPr>
              <a:t>“This project is a simple Student Management System developed in C++. It allows users to efficiently store, manage, and retrieve student details such as Roll Number, Name, and Marks. The system provides basic operations like adding new students, displaying all records, searching for a student by roll number, and deleting student information. The aim of this project is to demonstrate practical use of C++ concepts like structures, vectors, and basic input/output operations.”</a:t>
            </a:r>
          </a:p>
        </p:txBody>
      </p:sp>
      <p:sp>
        <p:nvSpPr>
          <p:cNvPr name="AutoShape 10" id="10"/>
          <p:cNvSpPr/>
          <p:nvPr/>
        </p:nvSpPr>
        <p:spPr>
          <a:xfrm>
            <a:off x="1382948" y="2608941"/>
            <a:ext cx="5069744" cy="0"/>
          </a:xfrm>
          <a:prstGeom prst="line">
            <a:avLst/>
          </a:prstGeom>
          <a:ln cap="flat" w="38100">
            <a:solidFill>
              <a:srgbClr val="000000"/>
            </a:solidFill>
            <a:prstDash val="solid"/>
            <a:headEnd type="none" len="sm" w="sm"/>
            <a:tailEnd type="none" len="sm" w="sm"/>
          </a:ln>
        </p:spPr>
      </p:sp>
      <p:sp>
        <p:nvSpPr>
          <p:cNvPr name="AutoShape 11" id="11"/>
          <p:cNvSpPr/>
          <p:nvPr/>
        </p:nvSpPr>
        <p:spPr>
          <a:xfrm>
            <a:off x="6452692" y="2608941"/>
            <a:ext cx="4979792" cy="0"/>
          </a:xfrm>
          <a:prstGeom prst="line">
            <a:avLst/>
          </a:prstGeom>
          <a:ln cap="flat" w="38100">
            <a:solidFill>
              <a:srgbClr val="000000"/>
            </a:solidFill>
            <a:prstDash val="solid"/>
            <a:headEnd type="none" len="sm" w="sm"/>
            <a:tailEnd type="none" len="sm" w="sm"/>
          </a:ln>
        </p:spPr>
      </p:sp>
      <p:sp>
        <p:nvSpPr>
          <p:cNvPr name="AutoShape 12" id="12"/>
          <p:cNvSpPr/>
          <p:nvPr/>
        </p:nvSpPr>
        <p:spPr>
          <a:xfrm>
            <a:off x="8942588" y="2627991"/>
            <a:ext cx="4979792" cy="0"/>
          </a:xfrm>
          <a:prstGeom prst="line">
            <a:avLst/>
          </a:prstGeom>
          <a:ln cap="flat" w="38100">
            <a:solidFill>
              <a:srgbClr val="000000"/>
            </a:solidFill>
            <a:prstDash val="solid"/>
            <a:headEnd type="none" len="sm" w="sm"/>
            <a:tailEnd type="none" len="sm" w="sm"/>
          </a:ln>
        </p:spPr>
      </p:sp>
    </p:spTree>
  </p:cSld>
  <p:clrMapOvr>
    <a:masterClrMapping/>
  </p:clrMapOvr>
  <p:transition spd="fast">
    <p:cover dir="rd"/>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456495" y="2103232"/>
            <a:ext cx="4221015" cy="1032528"/>
          </a:xfrm>
          <a:prstGeom prst="rect">
            <a:avLst/>
          </a:prstGeom>
        </p:spPr>
        <p:txBody>
          <a:bodyPr anchor="t" rtlCol="false" tIns="0" lIns="0" bIns="0" rIns="0">
            <a:spAutoFit/>
          </a:bodyPr>
          <a:lstStyle/>
          <a:p>
            <a:pPr algn="ctr">
              <a:lnSpc>
                <a:spcPts val="8477"/>
              </a:lnSpc>
            </a:pPr>
            <a:r>
              <a:rPr lang="en-US" sz="6055" b="true">
                <a:solidFill>
                  <a:srgbClr val="000000"/>
                </a:solidFill>
                <a:latin typeface="Canva Sans Bold"/>
                <a:ea typeface="Canva Sans Bold"/>
                <a:cs typeface="Canva Sans Bold"/>
                <a:sym typeface="Canva Sans Bold"/>
              </a:rPr>
              <a:t>Objectives:</a:t>
            </a:r>
          </a:p>
        </p:txBody>
      </p:sp>
      <p:sp>
        <p:nvSpPr>
          <p:cNvPr name="AutoShape 8" id="8"/>
          <p:cNvSpPr/>
          <p:nvPr/>
        </p:nvSpPr>
        <p:spPr>
          <a:xfrm>
            <a:off x="2344935" y="3154810"/>
            <a:ext cx="4444135" cy="0"/>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1668148" y="3317043"/>
            <a:ext cx="6516154" cy="5068822"/>
          </a:xfrm>
          <a:prstGeom prst="rect">
            <a:avLst/>
          </a:prstGeom>
        </p:spPr>
        <p:txBody>
          <a:bodyPr anchor="t" rtlCol="false" tIns="0" lIns="0" bIns="0" rIns="0">
            <a:spAutoFit/>
          </a:bodyPr>
          <a:lstStyle/>
          <a:p>
            <a:pPr algn="ctr">
              <a:lnSpc>
                <a:spcPts val="4488"/>
              </a:lnSpc>
            </a:pPr>
            <a:r>
              <a:rPr lang="en-US" sz="3206">
                <a:solidFill>
                  <a:srgbClr val="000000"/>
                </a:solidFill>
                <a:latin typeface="Canva Sans"/>
                <a:ea typeface="Canva Sans"/>
                <a:cs typeface="Canva Sans"/>
                <a:sym typeface="Canva Sans"/>
              </a:rPr>
              <a:t>To create an easy-to-use system for managing student information.</a:t>
            </a:r>
          </a:p>
          <a:p>
            <a:pPr algn="ctr">
              <a:lnSpc>
                <a:spcPts val="4488"/>
              </a:lnSpc>
            </a:pPr>
          </a:p>
          <a:p>
            <a:pPr algn="ctr">
              <a:lnSpc>
                <a:spcPts val="4488"/>
              </a:lnSpc>
            </a:pPr>
            <a:r>
              <a:rPr lang="en-US" sz="3206">
                <a:solidFill>
                  <a:srgbClr val="000000"/>
                </a:solidFill>
                <a:latin typeface="Canva Sans"/>
                <a:ea typeface="Canva Sans"/>
                <a:cs typeface="Canva Sans"/>
                <a:sym typeface="Canva Sans"/>
              </a:rPr>
              <a:t>To learn implementation of CRUD operations in C++.</a:t>
            </a:r>
          </a:p>
          <a:p>
            <a:pPr algn="ctr">
              <a:lnSpc>
                <a:spcPts val="4488"/>
              </a:lnSpc>
            </a:pPr>
          </a:p>
          <a:p>
            <a:pPr algn="ctr">
              <a:lnSpc>
                <a:spcPts val="4488"/>
              </a:lnSpc>
            </a:pPr>
            <a:r>
              <a:rPr lang="en-US" sz="3206">
                <a:solidFill>
                  <a:srgbClr val="000000"/>
                </a:solidFill>
                <a:latin typeface="Canva Sans"/>
                <a:ea typeface="Canva Sans"/>
                <a:cs typeface="Canva Sans"/>
                <a:sym typeface="Canva Sans"/>
              </a:rPr>
              <a:t>To practice using data structures like struct and vector.</a:t>
            </a:r>
          </a:p>
        </p:txBody>
      </p:sp>
      <p:sp>
        <p:nvSpPr>
          <p:cNvPr name="TextBox 10" id="10"/>
          <p:cNvSpPr txBox="true"/>
          <p:nvPr/>
        </p:nvSpPr>
        <p:spPr>
          <a:xfrm rot="0">
            <a:off x="9819170" y="2112757"/>
            <a:ext cx="6551305" cy="1733022"/>
          </a:xfrm>
          <a:prstGeom prst="rect">
            <a:avLst/>
          </a:prstGeom>
        </p:spPr>
        <p:txBody>
          <a:bodyPr anchor="t" rtlCol="false" tIns="0" lIns="0" bIns="0" rIns="0">
            <a:spAutoFit/>
          </a:bodyPr>
          <a:lstStyle/>
          <a:p>
            <a:pPr algn="ctr">
              <a:lnSpc>
                <a:spcPts val="6935"/>
              </a:lnSpc>
            </a:pPr>
            <a:r>
              <a:rPr lang="en-US" sz="4953" b="true">
                <a:solidFill>
                  <a:srgbClr val="000000"/>
                </a:solidFill>
                <a:latin typeface="Canva Sans Bold"/>
                <a:ea typeface="Canva Sans Bold"/>
                <a:cs typeface="Canva Sans Bold"/>
                <a:sym typeface="Canva Sans Bold"/>
              </a:rPr>
              <a:t>Methodology (Expanded)</a:t>
            </a:r>
          </a:p>
        </p:txBody>
      </p:sp>
      <p:sp>
        <p:nvSpPr>
          <p:cNvPr name="TextBox 11" id="11"/>
          <p:cNvSpPr txBox="true"/>
          <p:nvPr/>
        </p:nvSpPr>
        <p:spPr>
          <a:xfrm rot="0">
            <a:off x="9174088" y="4250869"/>
            <a:ext cx="7841469" cy="5543581"/>
          </a:xfrm>
          <a:prstGeom prst="rect">
            <a:avLst/>
          </a:prstGeom>
        </p:spPr>
        <p:txBody>
          <a:bodyPr anchor="t" rtlCol="false" tIns="0" lIns="0" bIns="0" rIns="0">
            <a:spAutoFit/>
          </a:bodyPr>
          <a:lstStyle/>
          <a:p>
            <a:pPr algn="ctr">
              <a:lnSpc>
                <a:spcPts val="3396"/>
              </a:lnSpc>
            </a:pPr>
            <a:r>
              <a:rPr lang="en-US" sz="2426">
                <a:solidFill>
                  <a:srgbClr val="000000"/>
                </a:solidFill>
                <a:latin typeface="Canva Sans"/>
                <a:ea typeface="Canva Sans"/>
                <a:cs typeface="Canva Sans"/>
                <a:sym typeface="Canva Sans"/>
              </a:rPr>
              <a:t>“The project uses a structured programming approach. Student information is stored in a structure that contains Roll Number, Name, and Marks. A vector is used to dynamically store multiple student records, which allows easy addition and deletion of data. The program provides a simple menu interface that guides users through available options. Each feature, such as adding, searching, displaying, and deleting records, is implemented using separate functions for clarity and maintainability. This methodology ensures that the program is organized, readable, and easy to modify or expand in the future.”</a:t>
            </a:r>
          </a:p>
        </p:txBody>
      </p:sp>
      <p:sp>
        <p:nvSpPr>
          <p:cNvPr name="AutoShape 12" id="12"/>
          <p:cNvSpPr/>
          <p:nvPr/>
        </p:nvSpPr>
        <p:spPr>
          <a:xfrm flipV="true">
            <a:off x="8606710" y="1316793"/>
            <a:ext cx="0" cy="8477657"/>
          </a:xfrm>
          <a:prstGeom prst="line">
            <a:avLst/>
          </a:prstGeom>
          <a:ln cap="flat" w="38100">
            <a:solidFill>
              <a:srgbClr val="000000"/>
            </a:solidFill>
            <a:prstDash val="solid"/>
            <a:headEnd type="none" len="sm" w="sm"/>
            <a:tailEnd type="none" len="sm" w="sm"/>
          </a:ln>
        </p:spPr>
      </p:sp>
      <p:sp>
        <p:nvSpPr>
          <p:cNvPr name="AutoShape 13" id="13"/>
          <p:cNvSpPr/>
          <p:nvPr/>
        </p:nvSpPr>
        <p:spPr>
          <a:xfrm>
            <a:off x="10944359" y="3031656"/>
            <a:ext cx="4332979" cy="0"/>
          </a:xfrm>
          <a:prstGeom prst="line">
            <a:avLst/>
          </a:prstGeom>
          <a:ln cap="flat" w="38100">
            <a:solidFill>
              <a:srgbClr val="000000"/>
            </a:solidFill>
            <a:prstDash val="solid"/>
            <a:headEnd type="none" len="sm" w="sm"/>
            <a:tailEnd type="none" len="sm" w="sm"/>
          </a:ln>
        </p:spPr>
      </p:sp>
      <p:sp>
        <p:nvSpPr>
          <p:cNvPr name="AutoShape 14" id="14"/>
          <p:cNvSpPr/>
          <p:nvPr/>
        </p:nvSpPr>
        <p:spPr>
          <a:xfrm>
            <a:off x="10682863" y="3864830"/>
            <a:ext cx="5046479" cy="0"/>
          </a:xfrm>
          <a:prstGeom prst="line">
            <a:avLst/>
          </a:prstGeom>
          <a:ln cap="flat" w="38100">
            <a:solidFill>
              <a:srgbClr val="000000"/>
            </a:solidFill>
            <a:prstDash val="solid"/>
            <a:headEnd type="none" len="sm" w="sm"/>
            <a:tailEnd type="none" len="sm" w="sm"/>
          </a:ln>
        </p:spPr>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558657" y="468392"/>
            <a:ext cx="4384964" cy="1006316"/>
          </a:xfrm>
          <a:prstGeom prst="rect">
            <a:avLst/>
          </a:prstGeom>
        </p:spPr>
        <p:txBody>
          <a:bodyPr anchor="t" rtlCol="false" tIns="0" lIns="0" bIns="0" rIns="0">
            <a:spAutoFit/>
          </a:bodyPr>
          <a:lstStyle/>
          <a:p>
            <a:pPr algn="ctr">
              <a:lnSpc>
                <a:spcPts val="8235"/>
              </a:lnSpc>
            </a:pPr>
            <a:r>
              <a:rPr lang="en-US" sz="5882" b="true">
                <a:solidFill>
                  <a:srgbClr val="000000"/>
                </a:solidFill>
                <a:latin typeface="Canva Sans Bold"/>
                <a:ea typeface="Canva Sans Bold"/>
                <a:cs typeface="Canva Sans Bold"/>
                <a:sym typeface="Canva Sans Bold"/>
              </a:rPr>
              <a:t>PROGRAM:</a:t>
            </a:r>
          </a:p>
        </p:txBody>
      </p:sp>
      <p:sp>
        <p:nvSpPr>
          <p:cNvPr name="AutoShape 8" id="8"/>
          <p:cNvSpPr/>
          <p:nvPr/>
        </p:nvSpPr>
        <p:spPr>
          <a:xfrm flipV="true">
            <a:off x="2693922" y="1493758"/>
            <a:ext cx="3753675" cy="0"/>
          </a:xfrm>
          <a:prstGeom prst="line">
            <a:avLst/>
          </a:prstGeom>
          <a:ln cap="flat" w="38100">
            <a:solidFill>
              <a:srgbClr val="000000"/>
            </a:solidFill>
            <a:prstDash val="solid"/>
            <a:headEnd type="none" len="sm" w="sm"/>
            <a:tailEnd type="none" len="sm" w="sm"/>
          </a:ln>
        </p:spPr>
      </p:sp>
      <p:sp>
        <p:nvSpPr>
          <p:cNvPr name="Freeform 9" id="9"/>
          <p:cNvSpPr/>
          <p:nvPr/>
        </p:nvSpPr>
        <p:spPr>
          <a:xfrm flipH="false" flipV="false" rot="0">
            <a:off x="2558657" y="1913223"/>
            <a:ext cx="5419986" cy="7983651"/>
          </a:xfrm>
          <a:custGeom>
            <a:avLst/>
            <a:gdLst/>
            <a:ahLst/>
            <a:cxnLst/>
            <a:rect r="r" b="b" t="t" l="l"/>
            <a:pathLst>
              <a:path h="7983651" w="5419986">
                <a:moveTo>
                  <a:pt x="0" y="0"/>
                </a:moveTo>
                <a:lnTo>
                  <a:pt x="5419986" y="0"/>
                </a:lnTo>
                <a:lnTo>
                  <a:pt x="5419986" y="7983650"/>
                </a:lnTo>
                <a:lnTo>
                  <a:pt x="0" y="7983650"/>
                </a:lnTo>
                <a:lnTo>
                  <a:pt x="0" y="0"/>
                </a:lnTo>
                <a:close/>
              </a:path>
            </a:pathLst>
          </a:custGeom>
          <a:blipFill>
            <a:blip r:embed="rId7"/>
            <a:stretch>
              <a:fillRect l="0" t="-1832" r="0" b="0"/>
            </a:stretch>
          </a:blipFill>
        </p:spPr>
      </p:sp>
      <p:sp>
        <p:nvSpPr>
          <p:cNvPr name="TextBox 10" id="10"/>
          <p:cNvSpPr txBox="true"/>
          <p:nvPr/>
        </p:nvSpPr>
        <p:spPr>
          <a:xfrm rot="0">
            <a:off x="8530022" y="516017"/>
            <a:ext cx="7839209" cy="1932483"/>
          </a:xfrm>
          <a:prstGeom prst="rect">
            <a:avLst/>
          </a:prstGeom>
        </p:spPr>
        <p:txBody>
          <a:bodyPr anchor="t" rtlCol="false" tIns="0" lIns="0" bIns="0" rIns="0">
            <a:spAutoFit/>
          </a:bodyPr>
          <a:lstStyle/>
          <a:p>
            <a:pPr algn="ctr">
              <a:lnSpc>
                <a:spcPts val="5165"/>
              </a:lnSpc>
            </a:pPr>
            <a:r>
              <a:rPr lang="en-US" sz="3689" b="true">
                <a:solidFill>
                  <a:srgbClr val="000000"/>
                </a:solidFill>
                <a:latin typeface="Canva Sans Bold"/>
                <a:ea typeface="Canva Sans Bold"/>
                <a:cs typeface="Canva Sans Bold"/>
                <a:sym typeface="Canva Sans Bold"/>
              </a:rPr>
              <a:t>Features / Functionality (Expanded)</a:t>
            </a:r>
          </a:p>
          <a:p>
            <a:pPr algn="ctr">
              <a:lnSpc>
                <a:spcPts val="5165"/>
              </a:lnSpc>
            </a:pPr>
          </a:p>
        </p:txBody>
      </p:sp>
      <p:sp>
        <p:nvSpPr>
          <p:cNvPr name="AutoShape 11" id="11"/>
          <p:cNvSpPr/>
          <p:nvPr/>
        </p:nvSpPr>
        <p:spPr>
          <a:xfrm>
            <a:off x="9784865" y="1278693"/>
            <a:ext cx="5329522" cy="19050"/>
          </a:xfrm>
          <a:prstGeom prst="line">
            <a:avLst/>
          </a:prstGeom>
          <a:ln cap="flat" w="38100">
            <a:solidFill>
              <a:srgbClr val="000000"/>
            </a:solidFill>
            <a:prstDash val="solid"/>
            <a:headEnd type="none" len="sm" w="sm"/>
            <a:tailEnd type="none" len="sm" w="sm"/>
          </a:ln>
        </p:spPr>
      </p:sp>
      <p:sp>
        <p:nvSpPr>
          <p:cNvPr name="TextBox 12" id="12"/>
          <p:cNvSpPr txBox="true"/>
          <p:nvPr/>
        </p:nvSpPr>
        <p:spPr>
          <a:xfrm rot="0">
            <a:off x="8732681" y="2355492"/>
            <a:ext cx="7433890" cy="6744604"/>
          </a:xfrm>
          <a:prstGeom prst="rect">
            <a:avLst/>
          </a:prstGeom>
        </p:spPr>
        <p:txBody>
          <a:bodyPr anchor="t" rtlCol="false" tIns="0" lIns="0" bIns="0" rIns="0">
            <a:spAutoFit/>
          </a:bodyPr>
          <a:lstStyle/>
          <a:p>
            <a:pPr algn="ctr">
              <a:lnSpc>
                <a:spcPts val="2959"/>
              </a:lnSpc>
            </a:pPr>
            <a:r>
              <a:rPr lang="en-US" sz="2113" b="true">
                <a:solidFill>
                  <a:srgbClr val="000000"/>
                </a:solidFill>
                <a:latin typeface="Canva Sans Bold"/>
                <a:ea typeface="Canva Sans Bold"/>
                <a:cs typeface="Canva Sans Bold"/>
                <a:sym typeface="Canva Sans Bold"/>
              </a:rPr>
              <a:t>Add New Student: Allows the user to enter student details and store them in the system.</a:t>
            </a:r>
          </a:p>
          <a:p>
            <a:pPr algn="ctr">
              <a:lnSpc>
                <a:spcPts val="2959"/>
              </a:lnSpc>
            </a:pPr>
          </a:p>
          <a:p>
            <a:pPr algn="ctr">
              <a:lnSpc>
                <a:spcPts val="2959"/>
              </a:lnSpc>
            </a:pPr>
            <a:r>
              <a:rPr lang="en-US" sz="2113" b="true">
                <a:solidFill>
                  <a:srgbClr val="000000"/>
                </a:solidFill>
                <a:latin typeface="Canva Sans Bold"/>
                <a:ea typeface="Canva Sans Bold"/>
                <a:cs typeface="Canva Sans Bold"/>
                <a:sym typeface="Canva Sans Bold"/>
              </a:rPr>
              <a:t>Display All Students: Shows all student records in a structured format.</a:t>
            </a:r>
          </a:p>
          <a:p>
            <a:pPr algn="ctr">
              <a:lnSpc>
                <a:spcPts val="2959"/>
              </a:lnSpc>
            </a:pPr>
          </a:p>
          <a:p>
            <a:pPr algn="ctr">
              <a:lnSpc>
                <a:spcPts val="2959"/>
              </a:lnSpc>
            </a:pPr>
            <a:r>
              <a:rPr lang="en-US" sz="2113" b="true">
                <a:solidFill>
                  <a:srgbClr val="000000"/>
                </a:solidFill>
                <a:latin typeface="Canva Sans Bold"/>
                <a:ea typeface="Canva Sans Bold"/>
                <a:cs typeface="Canva Sans Bold"/>
                <a:sym typeface="Canva Sans Bold"/>
              </a:rPr>
              <a:t>Search Student by Roll Number: Finds and displays a specific student’s details.</a:t>
            </a:r>
          </a:p>
          <a:p>
            <a:pPr algn="ctr">
              <a:lnSpc>
                <a:spcPts val="2959"/>
              </a:lnSpc>
            </a:pPr>
          </a:p>
          <a:p>
            <a:pPr algn="ctr">
              <a:lnSpc>
                <a:spcPts val="2959"/>
              </a:lnSpc>
            </a:pPr>
            <a:r>
              <a:rPr lang="en-US" sz="2113" b="true">
                <a:solidFill>
                  <a:srgbClr val="000000"/>
                </a:solidFill>
                <a:latin typeface="Canva Sans Bold"/>
                <a:ea typeface="Canva Sans Bold"/>
                <a:cs typeface="Canva Sans Bold"/>
                <a:sym typeface="Canva Sans Bold"/>
              </a:rPr>
              <a:t>Delete Student Records: Removes a student record from the system based on Roll Number.</a:t>
            </a:r>
          </a:p>
          <a:p>
            <a:pPr algn="ctr">
              <a:lnSpc>
                <a:spcPts val="2959"/>
              </a:lnSpc>
            </a:pPr>
          </a:p>
          <a:p>
            <a:pPr algn="ctr">
              <a:lnSpc>
                <a:spcPts val="2959"/>
              </a:lnSpc>
            </a:pPr>
            <a:r>
              <a:rPr lang="en-US" sz="2113" b="true">
                <a:solidFill>
                  <a:srgbClr val="000000"/>
                </a:solidFill>
                <a:latin typeface="Canva Sans Bold"/>
                <a:ea typeface="Canva Sans Bold"/>
                <a:cs typeface="Canva Sans Bold"/>
                <a:sym typeface="Canva Sans Bold"/>
              </a:rPr>
              <a:t>Calculate Average Marks (Optional): Provides insight into overall academic performance.</a:t>
            </a:r>
          </a:p>
          <a:p>
            <a:pPr algn="ctr">
              <a:lnSpc>
                <a:spcPts val="2959"/>
              </a:lnSpc>
            </a:pPr>
          </a:p>
          <a:p>
            <a:pPr algn="ctr">
              <a:lnSpc>
                <a:spcPts val="2959"/>
              </a:lnSpc>
            </a:pPr>
            <a:r>
              <a:rPr lang="en-US" sz="2113" b="true">
                <a:solidFill>
                  <a:srgbClr val="000000"/>
                </a:solidFill>
                <a:latin typeface="Canva Sans Bold"/>
                <a:ea typeface="Canva Sans Bold"/>
                <a:cs typeface="Canva Sans Bold"/>
                <a:sym typeface="Canva Sans Bold"/>
              </a:rPr>
              <a:t>User-Friendly Interface: Menu-driven system for ease of use and navigation.</a:t>
            </a:r>
          </a:p>
          <a:p>
            <a:pPr algn="ctr">
              <a:lnSpc>
                <a:spcPts val="2959"/>
              </a:lnSpc>
            </a:pPr>
          </a:p>
        </p:txBody>
      </p:sp>
    </p:spTree>
  </p:cSld>
  <p:clrMapOvr>
    <a:masterClrMapping/>
  </p:clrMapOvr>
  <p:transition spd="fast">
    <p:cover dir="rd"/>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755354" y="1728155"/>
            <a:ext cx="4919579" cy="764826"/>
          </a:xfrm>
          <a:prstGeom prst="rect">
            <a:avLst/>
          </a:prstGeom>
        </p:spPr>
        <p:txBody>
          <a:bodyPr anchor="t" rtlCol="false" tIns="0" lIns="0" bIns="0" rIns="0">
            <a:spAutoFit/>
          </a:bodyPr>
          <a:lstStyle/>
          <a:p>
            <a:pPr algn="ctr">
              <a:lnSpc>
                <a:spcPts val="6269"/>
              </a:lnSpc>
            </a:pPr>
            <a:r>
              <a:rPr lang="en-US" sz="4478" b="true">
                <a:solidFill>
                  <a:srgbClr val="000000"/>
                </a:solidFill>
                <a:latin typeface="Canva Sans Bold"/>
                <a:ea typeface="Canva Sans Bold"/>
                <a:cs typeface="Canva Sans Bold"/>
                <a:sym typeface="Canva Sans Bold"/>
              </a:rPr>
              <a:t>PROGRAM LINK:</a:t>
            </a:r>
          </a:p>
        </p:txBody>
      </p:sp>
      <p:sp>
        <p:nvSpPr>
          <p:cNvPr name="TextBox 8" id="8"/>
          <p:cNvSpPr txBox="true"/>
          <p:nvPr/>
        </p:nvSpPr>
        <p:spPr>
          <a:xfrm rot="0">
            <a:off x="5263793" y="2533504"/>
            <a:ext cx="4849230" cy="1036820"/>
          </a:xfrm>
          <a:prstGeom prst="rect">
            <a:avLst/>
          </a:prstGeom>
        </p:spPr>
        <p:txBody>
          <a:bodyPr anchor="t" rtlCol="false" tIns="0" lIns="0" bIns="0" rIns="0">
            <a:spAutoFit/>
          </a:bodyPr>
          <a:lstStyle/>
          <a:p>
            <a:pPr algn="ctr">
              <a:lnSpc>
                <a:spcPts val="8477"/>
              </a:lnSpc>
              <a:spcBef>
                <a:spcPct val="0"/>
              </a:spcBef>
            </a:pPr>
            <a:r>
              <a:rPr lang="en-US" b="true" sz="6055" u="sng">
                <a:solidFill>
                  <a:srgbClr val="000000"/>
                </a:solidFill>
                <a:latin typeface="Montserrat Bold"/>
                <a:ea typeface="Montserrat Bold"/>
                <a:cs typeface="Montserrat Bold"/>
                <a:sym typeface="Montserrat Bold"/>
                <a:hlinkClick r:id="rId7" tooltip="https://www.onlinegdb.com/zzP9myr-r"/>
              </a:rPr>
              <a:t>CLICK HERE</a:t>
            </a:r>
          </a:p>
        </p:txBody>
      </p:sp>
      <p:sp>
        <p:nvSpPr>
          <p:cNvPr name="TextBox 9" id="9"/>
          <p:cNvSpPr txBox="true"/>
          <p:nvPr/>
        </p:nvSpPr>
        <p:spPr>
          <a:xfrm rot="0">
            <a:off x="1376013" y="4456853"/>
            <a:ext cx="6392503" cy="1604066"/>
          </a:xfrm>
          <a:prstGeom prst="rect">
            <a:avLst/>
          </a:prstGeom>
        </p:spPr>
        <p:txBody>
          <a:bodyPr anchor="t" rtlCol="false" tIns="0" lIns="0" bIns="0" rIns="0">
            <a:spAutoFit/>
          </a:bodyPr>
          <a:lstStyle/>
          <a:p>
            <a:pPr algn="ctr">
              <a:lnSpc>
                <a:spcPts val="6401"/>
              </a:lnSpc>
            </a:pPr>
            <a:r>
              <a:rPr lang="en-US" sz="4572" b="true">
                <a:solidFill>
                  <a:srgbClr val="000000"/>
                </a:solidFill>
                <a:latin typeface="Canva Sans Bold"/>
                <a:ea typeface="Canva Sans Bold"/>
                <a:cs typeface="Canva Sans Bold"/>
                <a:sym typeface="Canva Sans Bold"/>
              </a:rPr>
              <a:t>Benefits / Advantages:</a:t>
            </a:r>
          </a:p>
          <a:p>
            <a:pPr algn="ctr">
              <a:lnSpc>
                <a:spcPts val="6401"/>
              </a:lnSpc>
            </a:pPr>
          </a:p>
        </p:txBody>
      </p:sp>
      <p:sp>
        <p:nvSpPr>
          <p:cNvPr name="AutoShape 10" id="10"/>
          <p:cNvSpPr/>
          <p:nvPr/>
        </p:nvSpPr>
        <p:spPr>
          <a:xfrm>
            <a:off x="1910629" y="2492981"/>
            <a:ext cx="4175897" cy="19050"/>
          </a:xfrm>
          <a:prstGeom prst="line">
            <a:avLst/>
          </a:prstGeom>
          <a:ln cap="flat" w="38100">
            <a:solidFill>
              <a:srgbClr val="000000"/>
            </a:solidFill>
            <a:prstDash val="solid"/>
            <a:headEnd type="none" len="sm" w="sm"/>
            <a:tailEnd type="none" len="sm" w="sm"/>
          </a:ln>
        </p:spPr>
      </p:sp>
      <p:sp>
        <p:nvSpPr>
          <p:cNvPr name="AutoShape 11" id="11"/>
          <p:cNvSpPr/>
          <p:nvPr/>
        </p:nvSpPr>
        <p:spPr>
          <a:xfrm flipV="true">
            <a:off x="1521028" y="5198797"/>
            <a:ext cx="6276925" cy="126764"/>
          </a:xfrm>
          <a:prstGeom prst="line">
            <a:avLst/>
          </a:prstGeom>
          <a:ln cap="flat" w="38100">
            <a:solidFill>
              <a:srgbClr val="000000"/>
            </a:solidFill>
            <a:prstDash val="solid"/>
            <a:headEnd type="none" len="sm" w="sm"/>
            <a:tailEnd type="none" len="sm" w="sm"/>
          </a:ln>
        </p:spPr>
      </p:sp>
      <p:sp>
        <p:nvSpPr>
          <p:cNvPr name="TextBox 12" id="12"/>
          <p:cNvSpPr txBox="true"/>
          <p:nvPr/>
        </p:nvSpPr>
        <p:spPr>
          <a:xfrm rot="0">
            <a:off x="3093126" y="5411286"/>
            <a:ext cx="10034716" cy="4638150"/>
          </a:xfrm>
          <a:prstGeom prst="rect">
            <a:avLst/>
          </a:prstGeom>
        </p:spPr>
        <p:txBody>
          <a:bodyPr anchor="t" rtlCol="false" tIns="0" lIns="0" bIns="0" rIns="0">
            <a:spAutoFit/>
          </a:bodyPr>
          <a:lstStyle/>
          <a:p>
            <a:pPr algn="ctr">
              <a:lnSpc>
                <a:spcPts val="3694"/>
              </a:lnSpc>
            </a:pPr>
            <a:r>
              <a:rPr lang="en-US" sz="2638">
                <a:solidFill>
                  <a:srgbClr val="000000"/>
                </a:solidFill>
                <a:latin typeface="Canva Sans"/>
                <a:ea typeface="Canva Sans"/>
                <a:cs typeface="Canva Sans"/>
                <a:sym typeface="Canva Sans"/>
              </a:rPr>
              <a:t>Eliminates the need for manual record-keeping.</a:t>
            </a:r>
          </a:p>
          <a:p>
            <a:pPr algn="ctr">
              <a:lnSpc>
                <a:spcPts val="3694"/>
              </a:lnSpc>
            </a:pPr>
          </a:p>
          <a:p>
            <a:pPr algn="ctr">
              <a:lnSpc>
                <a:spcPts val="3694"/>
              </a:lnSpc>
            </a:pPr>
            <a:r>
              <a:rPr lang="en-US" sz="2638">
                <a:solidFill>
                  <a:srgbClr val="000000"/>
                </a:solidFill>
                <a:latin typeface="Canva Sans"/>
                <a:ea typeface="Canva Sans"/>
                <a:cs typeface="Canva Sans"/>
                <a:sym typeface="Canva Sans"/>
              </a:rPr>
              <a:t>Reduces errors and ensures accurate data storage.</a:t>
            </a:r>
          </a:p>
          <a:p>
            <a:pPr algn="ctr">
              <a:lnSpc>
                <a:spcPts val="3694"/>
              </a:lnSpc>
            </a:pPr>
          </a:p>
          <a:p>
            <a:pPr algn="ctr">
              <a:lnSpc>
                <a:spcPts val="3694"/>
              </a:lnSpc>
            </a:pPr>
            <a:r>
              <a:rPr lang="en-US" sz="2638">
                <a:solidFill>
                  <a:srgbClr val="000000"/>
                </a:solidFill>
                <a:latin typeface="Canva Sans"/>
                <a:ea typeface="Canva Sans"/>
                <a:cs typeface="Canva Sans"/>
                <a:sym typeface="Canva Sans"/>
              </a:rPr>
              <a:t>Helps students and institutions track performance efficiently.</a:t>
            </a:r>
          </a:p>
          <a:p>
            <a:pPr algn="ctr">
              <a:lnSpc>
                <a:spcPts val="3694"/>
              </a:lnSpc>
            </a:pPr>
          </a:p>
          <a:p>
            <a:pPr algn="ctr">
              <a:lnSpc>
                <a:spcPts val="3694"/>
              </a:lnSpc>
            </a:pPr>
            <a:r>
              <a:rPr lang="en-US" sz="2638">
                <a:solidFill>
                  <a:srgbClr val="000000"/>
                </a:solidFill>
                <a:latin typeface="Canva Sans"/>
                <a:ea typeface="Canva Sans"/>
                <a:cs typeface="Canva Sans"/>
                <a:sym typeface="Canva Sans"/>
              </a:rPr>
              <a:t>Provides hands-on experience in C++ programming concepts.</a:t>
            </a:r>
          </a:p>
          <a:p>
            <a:pPr algn="ctr">
              <a:lnSpc>
                <a:spcPts val="3694"/>
              </a:lnSpc>
            </a:pPr>
          </a:p>
          <a:p>
            <a:pPr algn="ctr">
              <a:lnSpc>
                <a:spcPts val="3694"/>
              </a:lnSpc>
            </a:pPr>
            <a:r>
              <a:rPr lang="en-US" sz="2638">
                <a:solidFill>
                  <a:srgbClr val="000000"/>
                </a:solidFill>
                <a:latin typeface="Canva Sans"/>
                <a:ea typeface="Canva Sans"/>
                <a:cs typeface="Canva Sans"/>
                <a:sym typeface="Canva Sans"/>
              </a:rPr>
              <a:t>Can be extended in the future to include additional features such as grade calculation, data sorting, or file storage.</a:t>
            </a:r>
          </a:p>
        </p:txBody>
      </p:sp>
    </p:spTree>
  </p:cSld>
  <p:clrMapOvr>
    <a:masterClrMapping/>
  </p:clrMapOvr>
  <p:transition spd="fast">
    <p:cover dir="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56143" y="897345"/>
            <a:ext cx="14173200" cy="2476849"/>
          </a:xfrm>
          <a:prstGeom prst="rect">
            <a:avLst/>
          </a:prstGeom>
        </p:spPr>
        <p:txBody>
          <a:bodyPr anchor="t" rtlCol="false" tIns="0" lIns="0" bIns="0" rIns="0">
            <a:spAutoFit/>
          </a:bodyPr>
          <a:lstStyle/>
          <a:p>
            <a:pPr algn="ctr">
              <a:lnSpc>
                <a:spcPts val="9982"/>
              </a:lnSpc>
            </a:pPr>
            <a:r>
              <a:rPr lang="en-US" sz="7130" b="true">
                <a:solidFill>
                  <a:srgbClr val="000000"/>
                </a:solidFill>
                <a:latin typeface="Canva Sans Bold"/>
                <a:ea typeface="Canva Sans Bold"/>
                <a:cs typeface="Canva Sans Bold"/>
                <a:sym typeface="Canva Sans Bold"/>
              </a:rPr>
              <a:t>Problem Statement / Motivation:</a:t>
            </a:r>
          </a:p>
        </p:txBody>
      </p:sp>
      <p:sp>
        <p:nvSpPr>
          <p:cNvPr name="TextBox 8" id="8"/>
          <p:cNvSpPr txBox="true"/>
          <p:nvPr/>
        </p:nvSpPr>
        <p:spPr>
          <a:xfrm rot="0">
            <a:off x="1054885" y="3770474"/>
            <a:ext cx="17233115" cy="3368541"/>
          </a:xfrm>
          <a:prstGeom prst="rect">
            <a:avLst/>
          </a:prstGeom>
        </p:spPr>
        <p:txBody>
          <a:bodyPr anchor="t" rtlCol="false" tIns="0" lIns="0" bIns="0" rIns="0">
            <a:spAutoFit/>
          </a:bodyPr>
          <a:lstStyle/>
          <a:p>
            <a:pPr algn="ctr">
              <a:lnSpc>
                <a:spcPts val="4485"/>
              </a:lnSpc>
            </a:pPr>
            <a:r>
              <a:rPr lang="en-US" sz="3203">
                <a:solidFill>
                  <a:srgbClr val="000000"/>
                </a:solidFill>
                <a:latin typeface="Canva Sans"/>
                <a:ea typeface="Canva Sans"/>
                <a:cs typeface="Canva Sans"/>
                <a:sym typeface="Canva Sans"/>
              </a:rPr>
              <a:t>“In most educational environments, maintaining student records manually can be time-consuming, prone to errors, and difficult to organize. This project addresses that problem by creating an automated, structured, and reliable solution. By using this C++ program, users can easily handle student data without the need for paper-based records or complex software. The project also serves as a learning tool for understanding programming fundamentals and practical problem-solving techniques.”</a:t>
            </a:r>
          </a:p>
        </p:txBody>
      </p:sp>
    </p:spTree>
  </p:cSld>
  <p:clrMapOvr>
    <a:masterClrMapping/>
  </p:clrMapOvr>
  <p:transition spd="fast">
    <p:cover dir="rd"/>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119940" y="1173918"/>
            <a:ext cx="9360379" cy="1309089"/>
          </a:xfrm>
          <a:prstGeom prst="rect">
            <a:avLst/>
          </a:prstGeom>
        </p:spPr>
        <p:txBody>
          <a:bodyPr anchor="t" rtlCol="false" tIns="0" lIns="0" bIns="0" rIns="0">
            <a:spAutoFit/>
          </a:bodyPr>
          <a:lstStyle/>
          <a:p>
            <a:pPr algn="ctr">
              <a:lnSpc>
                <a:spcPts val="10766"/>
              </a:lnSpc>
            </a:pPr>
            <a:r>
              <a:rPr lang="en-US" sz="7690" b="true">
                <a:solidFill>
                  <a:srgbClr val="000000"/>
                </a:solidFill>
                <a:latin typeface="Canva Sans Bold"/>
                <a:ea typeface="Canva Sans Bold"/>
                <a:cs typeface="Canva Sans Bold"/>
                <a:sym typeface="Canva Sans Bold"/>
              </a:rPr>
              <a:t>EXAMPLE OUTPUT:</a:t>
            </a:r>
          </a:p>
        </p:txBody>
      </p:sp>
      <p:sp>
        <p:nvSpPr>
          <p:cNvPr name="TextBox 8" id="8"/>
          <p:cNvSpPr txBox="true"/>
          <p:nvPr/>
        </p:nvSpPr>
        <p:spPr>
          <a:xfrm rot="0">
            <a:off x="2791202" y="3307518"/>
            <a:ext cx="9870269" cy="6692373"/>
          </a:xfrm>
          <a:prstGeom prst="rect">
            <a:avLst/>
          </a:prstGeom>
        </p:spPr>
        <p:txBody>
          <a:bodyPr anchor="t" rtlCol="false" tIns="0" lIns="0" bIns="0" rIns="0">
            <a:spAutoFit/>
          </a:bodyPr>
          <a:lstStyle/>
          <a:p>
            <a:pPr algn="ctr">
              <a:lnSpc>
                <a:spcPts val="4808"/>
              </a:lnSpc>
            </a:pPr>
            <a:r>
              <a:rPr lang="en-US" sz="3434" b="true">
                <a:solidFill>
                  <a:srgbClr val="000000"/>
                </a:solidFill>
                <a:latin typeface="Canva Sans Bold"/>
                <a:ea typeface="Canva Sans Bold"/>
                <a:cs typeface="Canva Sans Bold"/>
                <a:sym typeface="Canva Sans Bold"/>
              </a:rPr>
              <a:t>--- Student Management System ---</a:t>
            </a:r>
          </a:p>
          <a:p>
            <a:pPr algn="ctr">
              <a:lnSpc>
                <a:spcPts val="4808"/>
              </a:lnSpc>
            </a:pPr>
            <a:r>
              <a:rPr lang="en-US" sz="3434" b="true">
                <a:solidFill>
                  <a:srgbClr val="000000"/>
                </a:solidFill>
                <a:latin typeface="Canva Sans Bold"/>
                <a:ea typeface="Canva Sans Bold"/>
                <a:cs typeface="Canva Sans Bold"/>
                <a:sym typeface="Canva Sans Bold"/>
              </a:rPr>
              <a:t>1. Add Student</a:t>
            </a:r>
          </a:p>
          <a:p>
            <a:pPr algn="ctr">
              <a:lnSpc>
                <a:spcPts val="4808"/>
              </a:lnSpc>
            </a:pPr>
            <a:r>
              <a:rPr lang="en-US" sz="3434" b="true">
                <a:solidFill>
                  <a:srgbClr val="000000"/>
                </a:solidFill>
                <a:latin typeface="Canva Sans Bold"/>
                <a:ea typeface="Canva Sans Bold"/>
                <a:cs typeface="Canva Sans Bold"/>
                <a:sym typeface="Canva Sans Bold"/>
              </a:rPr>
              <a:t>2. Display Students</a:t>
            </a:r>
          </a:p>
          <a:p>
            <a:pPr algn="ctr">
              <a:lnSpc>
                <a:spcPts val="4808"/>
              </a:lnSpc>
            </a:pPr>
            <a:r>
              <a:rPr lang="en-US" sz="3434" b="true">
                <a:solidFill>
                  <a:srgbClr val="000000"/>
                </a:solidFill>
                <a:latin typeface="Canva Sans Bold"/>
                <a:ea typeface="Canva Sans Bold"/>
                <a:cs typeface="Canva Sans Bold"/>
                <a:sym typeface="Canva Sans Bold"/>
              </a:rPr>
              <a:t>3. Search Student</a:t>
            </a:r>
          </a:p>
          <a:p>
            <a:pPr algn="ctr">
              <a:lnSpc>
                <a:spcPts val="4808"/>
              </a:lnSpc>
            </a:pPr>
            <a:r>
              <a:rPr lang="en-US" sz="3434" b="true">
                <a:solidFill>
                  <a:srgbClr val="000000"/>
                </a:solidFill>
                <a:latin typeface="Canva Sans Bold"/>
                <a:ea typeface="Canva Sans Bold"/>
                <a:cs typeface="Canva Sans Bold"/>
                <a:sym typeface="Canva Sans Bold"/>
              </a:rPr>
              <a:t>4. Delete Student</a:t>
            </a:r>
          </a:p>
          <a:p>
            <a:pPr algn="ctr">
              <a:lnSpc>
                <a:spcPts val="4808"/>
              </a:lnSpc>
            </a:pPr>
            <a:r>
              <a:rPr lang="en-US" sz="3434" b="true">
                <a:solidFill>
                  <a:srgbClr val="000000"/>
                </a:solidFill>
                <a:latin typeface="Canva Sans Bold"/>
                <a:ea typeface="Canva Sans Bold"/>
                <a:cs typeface="Canva Sans Bold"/>
                <a:sym typeface="Canva Sans Bold"/>
              </a:rPr>
              <a:t>5. Exit</a:t>
            </a:r>
          </a:p>
          <a:p>
            <a:pPr algn="ctr">
              <a:lnSpc>
                <a:spcPts val="4808"/>
              </a:lnSpc>
            </a:pPr>
            <a:r>
              <a:rPr lang="en-US" sz="3434" b="true">
                <a:solidFill>
                  <a:srgbClr val="000000"/>
                </a:solidFill>
                <a:latin typeface="Canva Sans Bold"/>
                <a:ea typeface="Canva Sans Bold"/>
                <a:cs typeface="Canva Sans Bold"/>
                <a:sym typeface="Canva Sans Bold"/>
              </a:rPr>
              <a:t>Enter choice: 1</a:t>
            </a:r>
          </a:p>
          <a:p>
            <a:pPr algn="ctr">
              <a:lnSpc>
                <a:spcPts val="4808"/>
              </a:lnSpc>
            </a:pPr>
            <a:r>
              <a:rPr lang="en-US" sz="3434" b="true">
                <a:solidFill>
                  <a:srgbClr val="000000"/>
                </a:solidFill>
                <a:latin typeface="Canva Sans Bold"/>
                <a:ea typeface="Canva Sans Bold"/>
                <a:cs typeface="Canva Sans Bold"/>
                <a:sym typeface="Canva Sans Bold"/>
              </a:rPr>
              <a:t>Enter Roll Number: 101</a:t>
            </a:r>
          </a:p>
          <a:p>
            <a:pPr algn="ctr">
              <a:lnSpc>
                <a:spcPts val="4808"/>
              </a:lnSpc>
            </a:pPr>
            <a:r>
              <a:rPr lang="en-US" sz="3434" b="true">
                <a:solidFill>
                  <a:srgbClr val="000000"/>
                </a:solidFill>
                <a:latin typeface="Canva Sans Bold"/>
                <a:ea typeface="Canva Sans Bold"/>
                <a:cs typeface="Canva Sans Bold"/>
                <a:sym typeface="Canva Sans Bold"/>
              </a:rPr>
              <a:t>Enter Name: Mathavan</a:t>
            </a:r>
          </a:p>
          <a:p>
            <a:pPr algn="ctr">
              <a:lnSpc>
                <a:spcPts val="4808"/>
              </a:lnSpc>
            </a:pPr>
            <a:r>
              <a:rPr lang="en-US" sz="3434" b="true">
                <a:solidFill>
                  <a:srgbClr val="000000"/>
                </a:solidFill>
                <a:latin typeface="Canva Sans Bold"/>
                <a:ea typeface="Canva Sans Bold"/>
                <a:cs typeface="Canva Sans Bold"/>
                <a:sym typeface="Canva Sans Bold"/>
              </a:rPr>
              <a:t>Enter Marks: 95</a:t>
            </a:r>
          </a:p>
          <a:p>
            <a:pPr algn="ctr">
              <a:lnSpc>
                <a:spcPts val="4808"/>
              </a:lnSpc>
            </a:pPr>
            <a:r>
              <a:rPr lang="en-US" sz="3434" b="true">
                <a:solidFill>
                  <a:srgbClr val="000000"/>
                </a:solidFill>
                <a:latin typeface="Canva Sans Bold"/>
                <a:ea typeface="Canva Sans Bold"/>
                <a:cs typeface="Canva Sans Bold"/>
                <a:sym typeface="Canva Sans Bold"/>
              </a:rPr>
              <a:t>Student added successfully!</a:t>
            </a:r>
          </a:p>
        </p:txBody>
      </p:sp>
      <p:sp>
        <p:nvSpPr>
          <p:cNvPr name="AutoShape 9" id="9"/>
          <p:cNvSpPr/>
          <p:nvPr/>
        </p:nvSpPr>
        <p:spPr>
          <a:xfrm>
            <a:off x="2119940" y="2463958"/>
            <a:ext cx="9150245" cy="0"/>
          </a:xfrm>
          <a:prstGeom prst="line">
            <a:avLst/>
          </a:prstGeom>
          <a:ln cap="flat" w="38100">
            <a:solidFill>
              <a:srgbClr val="000000"/>
            </a:solidFill>
            <a:prstDash val="solid"/>
            <a:headEnd type="none" len="sm" w="sm"/>
            <a:tailEnd type="none" len="sm" w="sm"/>
          </a:ln>
        </p:spPr>
      </p:sp>
    </p:spTree>
  </p:cSld>
  <p:clrMapOvr>
    <a:masterClrMapping/>
  </p:clrMapOvr>
  <p:transition spd="fast">
    <p:cover dir="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529903" y="1838507"/>
            <a:ext cx="11228195" cy="1631831"/>
          </a:xfrm>
          <a:prstGeom prst="rect">
            <a:avLst/>
          </a:prstGeom>
        </p:spPr>
        <p:txBody>
          <a:bodyPr anchor="t" rtlCol="false" tIns="0" lIns="0" bIns="0" rIns="0">
            <a:spAutoFit/>
          </a:bodyPr>
          <a:lstStyle/>
          <a:p>
            <a:pPr algn="ctr">
              <a:lnSpc>
                <a:spcPts val="13375"/>
              </a:lnSpc>
            </a:pPr>
            <a:r>
              <a:rPr lang="en-US" sz="9554">
                <a:solidFill>
                  <a:srgbClr val="000000"/>
                </a:solidFill>
                <a:latin typeface="Merriweather Sans"/>
                <a:ea typeface="Merriweather Sans"/>
                <a:cs typeface="Merriweather Sans"/>
                <a:sym typeface="Merriweather Sans"/>
              </a:rPr>
              <a:t>CONCLUSION</a:t>
            </a:r>
          </a:p>
        </p:txBody>
      </p:sp>
      <p:sp>
        <p:nvSpPr>
          <p:cNvPr name="TextBox 8" id="8"/>
          <p:cNvSpPr txBox="true"/>
          <p:nvPr/>
        </p:nvSpPr>
        <p:spPr>
          <a:xfrm rot="0">
            <a:off x="1475289" y="3563133"/>
            <a:ext cx="15337421" cy="5536964"/>
          </a:xfrm>
          <a:prstGeom prst="rect">
            <a:avLst/>
          </a:prstGeom>
        </p:spPr>
        <p:txBody>
          <a:bodyPr anchor="t" rtlCol="false" tIns="0" lIns="0" bIns="0" rIns="0">
            <a:spAutoFit/>
          </a:bodyPr>
          <a:lstStyle/>
          <a:p>
            <a:pPr algn="ctr">
              <a:lnSpc>
                <a:spcPts val="4380"/>
              </a:lnSpc>
            </a:pPr>
            <a:r>
              <a:rPr lang="en-US" sz="3128" b="true">
                <a:solidFill>
                  <a:srgbClr val="000000"/>
                </a:solidFill>
                <a:latin typeface="Canva Sans Bold"/>
                <a:ea typeface="Canva Sans Bold"/>
                <a:cs typeface="Canva Sans Bold"/>
                <a:sym typeface="Canva Sans Bold"/>
              </a:rPr>
              <a:t>“The Student Management System developed in C++ is an effective, simple, and interactive application. It demonstrates the use of fundamental programming concepts in a real-world scenario. This project helps students understand how data can be organized, stored, and retrieved efficiently. Through this micro project, learners gain practical skills in programming logic, data management, and problem-solving. The system is easy to use, expandable, and can serve as a foundation for more advanced projects in the future.”</a:t>
            </a:r>
          </a:p>
          <a:p>
            <a:pPr algn="ctr">
              <a:lnSpc>
                <a:spcPts val="4380"/>
              </a:lnSpc>
            </a:pPr>
          </a:p>
          <a:p>
            <a:pPr algn="ctr">
              <a:lnSpc>
                <a:spcPts val="4380"/>
              </a:lnSpc>
            </a:pPr>
          </a:p>
        </p:txBody>
      </p:sp>
      <p:sp>
        <p:nvSpPr>
          <p:cNvPr name="AutoShape 9" id="9"/>
          <p:cNvSpPr/>
          <p:nvPr/>
        </p:nvSpPr>
        <p:spPr>
          <a:xfrm>
            <a:off x="5611512" y="3355143"/>
            <a:ext cx="7064976" cy="0"/>
          </a:xfrm>
          <a:prstGeom prst="line">
            <a:avLst/>
          </a:prstGeom>
          <a:ln cap="flat" w="38100">
            <a:solidFill>
              <a:srgbClr val="000000"/>
            </a:solidFill>
            <a:prstDash val="solid"/>
            <a:headEnd type="none" len="sm" w="sm"/>
            <a:tailEnd type="none" len="sm" w="sm"/>
          </a:ln>
        </p:spPr>
      </p:sp>
    </p:spTree>
  </p:cSld>
  <p:clrMapOvr>
    <a:masterClrMapping/>
  </p:clrMapOvr>
  <p:transition spd="fast">
    <p:cover dir="rd"/>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584626" y="-740607"/>
            <a:ext cx="5226651" cy="4114800"/>
          </a:xfrm>
          <a:custGeom>
            <a:avLst/>
            <a:gdLst/>
            <a:ahLst/>
            <a:cxnLst/>
            <a:rect r="r" b="b" t="t" l="l"/>
            <a:pathLst>
              <a:path h="4114800" w="5226651">
                <a:moveTo>
                  <a:pt x="0" y="0"/>
                </a:moveTo>
                <a:lnTo>
                  <a:pt x="5226652" y="0"/>
                </a:lnTo>
                <a:lnTo>
                  <a:pt x="52266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14645974" y="7042697"/>
            <a:ext cx="5226651" cy="4114800"/>
          </a:xfrm>
          <a:custGeom>
            <a:avLst/>
            <a:gdLst/>
            <a:ahLst/>
            <a:cxnLst/>
            <a:rect r="r" b="b" t="t" l="l"/>
            <a:pathLst>
              <a:path h="4114800" w="5226651">
                <a:moveTo>
                  <a:pt x="5226652" y="4114800"/>
                </a:moveTo>
                <a:lnTo>
                  <a:pt x="0" y="4114800"/>
                </a:lnTo>
                <a:lnTo>
                  <a:pt x="0" y="0"/>
                </a:lnTo>
                <a:lnTo>
                  <a:pt x="5226652" y="0"/>
                </a:lnTo>
                <a:lnTo>
                  <a:pt x="5226652"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729343" y="-740607"/>
            <a:ext cx="3059915" cy="4114800"/>
          </a:xfrm>
          <a:custGeom>
            <a:avLst/>
            <a:gdLst/>
            <a:ahLst/>
            <a:cxnLst/>
            <a:rect r="r" b="b" t="t" l="l"/>
            <a:pathLst>
              <a:path h="4114800" w="3059915">
                <a:moveTo>
                  <a:pt x="0" y="0"/>
                </a:moveTo>
                <a:lnTo>
                  <a:pt x="3059914" y="0"/>
                </a:lnTo>
                <a:lnTo>
                  <a:pt x="305991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501257" y="7042697"/>
            <a:ext cx="3059915" cy="4114800"/>
          </a:xfrm>
          <a:custGeom>
            <a:avLst/>
            <a:gdLst/>
            <a:ahLst/>
            <a:cxnLst/>
            <a:rect r="r" b="b" t="t" l="l"/>
            <a:pathLst>
              <a:path h="4114800" w="3059915">
                <a:moveTo>
                  <a:pt x="3059914" y="4114800"/>
                </a:moveTo>
                <a:lnTo>
                  <a:pt x="0" y="4114800"/>
                </a:lnTo>
                <a:lnTo>
                  <a:pt x="0" y="0"/>
                </a:lnTo>
                <a:lnTo>
                  <a:pt x="3059914" y="0"/>
                </a:lnTo>
                <a:lnTo>
                  <a:pt x="3059914"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846488" y="3962424"/>
            <a:ext cx="14595024" cy="2124027"/>
          </a:xfrm>
          <a:prstGeom prst="rect">
            <a:avLst/>
          </a:prstGeom>
        </p:spPr>
        <p:txBody>
          <a:bodyPr anchor="t" rtlCol="false" tIns="0" lIns="0" bIns="0" rIns="0">
            <a:spAutoFit/>
          </a:bodyPr>
          <a:lstStyle/>
          <a:p>
            <a:pPr algn="ctr">
              <a:lnSpc>
                <a:spcPts val="17386"/>
              </a:lnSpc>
            </a:pPr>
            <a:r>
              <a:rPr lang="en-US" sz="12418">
                <a:solidFill>
                  <a:srgbClr val="000000"/>
                </a:solidFill>
                <a:latin typeface="Merriweather Sans"/>
                <a:ea typeface="Merriweather Sans"/>
                <a:cs typeface="Merriweather Sans"/>
                <a:sym typeface="Merriweather Sans"/>
              </a:rPr>
              <a:t>THANK YOU</a:t>
            </a:r>
          </a:p>
        </p:txBody>
      </p:sp>
    </p:spTree>
  </p:cSld>
  <p:clrMapOvr>
    <a:masterClrMapping/>
  </p:clrMapOvr>
  <p:transition spd="fast">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DAGyki40BtY</dc:identifier>
  <dcterms:modified xsi:type="dcterms:W3CDTF">2011-08-01T06:04:30Z</dcterms:modified>
  <cp:revision>1</cp:revision>
  <dc:title>DSC++ MICRO PROJECT</dc:title>
</cp:coreProperties>
</file>